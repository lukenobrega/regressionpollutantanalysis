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
  </p:notesMasterIdLst>
  <p:sldIdLst>
    <p:sldId id="256" r:id="rId2"/>
    <p:sldId id="257" r:id="rId3"/>
    <p:sldId id="258" r:id="rId4"/>
    <p:sldId id="259" r:id="rId5"/>
    <p:sldId id="260" r:id="rId6"/>
  </p:sldIdLst>
  <p:sldSz cx="9144000" cy="5143500" type="screen16x9"/>
  <p:notesSz cx="6858000" cy="9144000"/>
  <p:embeddedFontLst>
    <p:embeddedFont>
      <p:font typeface="Old Standard TT" panose="020B0604020202020204" charset="0"/>
      <p:regular r:id="rId8"/>
      <p:bold r:id="rId9"/>
      <p:italic r:id="rId1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c6f9035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c6f9035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We’re Group 7, and our project is focused on predicting short-term air quality index—or AQI—using weather and pollution data.</a:t>
            </a:r>
            <a:endParaRPr/>
          </a:p>
          <a:p>
            <a:pPr marL="0" lvl="0" indent="0" algn="l" rtl="0">
              <a:lnSpc>
                <a:spcPct val="115000"/>
              </a:lnSpc>
              <a:spcBef>
                <a:spcPts val="0"/>
              </a:spcBef>
              <a:spcAft>
                <a:spcPts val="0"/>
              </a:spcAft>
              <a:buClr>
                <a:schemeClr val="dk1"/>
              </a:buClr>
              <a:buSzPts val="1100"/>
              <a:buFont typeface="Arial"/>
              <a:buNone/>
            </a:pPr>
            <a:r>
              <a:rPr lang="en"/>
              <a:t>We chose this topic because air pollution is a major issue affecting public health, and being able to forecast AQI even an hour ahead can help authorities issue timely health alerts and guide urban planning decisions.</a:t>
            </a:r>
            <a:endParaRPr/>
          </a:p>
          <a:p>
            <a:pPr marL="0" lvl="0" indent="0" algn="l" rtl="0">
              <a:spcBef>
                <a:spcPts val="0"/>
              </a:spcBef>
              <a:spcAft>
                <a:spcPts val="0"/>
              </a:spcAft>
              <a:buNone/>
            </a:pPr>
            <a:r>
              <a:rPr lang="en"/>
              <a:t>We’ll walk you through our project goals, the data we used, our analysis, the models we built, and our final insights and recommendations.”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9da24af36f_0_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9da24af36f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Our purpose is clear — forecast near-term NO₂.</a:t>
            </a:r>
            <a:br>
              <a:rPr lang="en"/>
            </a:br>
            <a:r>
              <a:rPr lang="en"/>
              <a:t>We structured the pipeline around supervised regression.</a:t>
            </a:r>
            <a:br>
              <a:rPr lang="en"/>
            </a:br>
            <a:r>
              <a:rPr lang="en"/>
              <a:t>We standardized data preparation to make results reliable and reproducible.</a:t>
            </a:r>
            <a:br>
              <a:rPr lang="en"/>
            </a:br>
            <a:r>
              <a:rPr lang="en"/>
              <a:t>The three chosen models give a good balance: interpretability, non-linearity, and robustness.</a:t>
            </a:r>
            <a:endParaRPr/>
          </a:p>
          <a:p>
            <a:pPr marL="0" lvl="0" indent="0" algn="l" rtl="0">
              <a:spcBef>
                <a:spcPts val="120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a9171b419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a9171b419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Luke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c6f90357f_0_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0357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Ian - “All three models achieved R² values above 0.87, which is excellent for real-world pollution data. Random Forest slightly edges out the others, offering a great balance of accuracy and interpretability. These results confirm ensemble methods’ superiority for air quality prediction, while still validating the strength of our linear baseline.”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9deaa8a42b_0_2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9deaa8a42b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81000" marR="381000" lvl="0" indent="0" algn="l" rtl="0">
              <a:lnSpc>
                <a:spcPct val="115000"/>
              </a:lnSpc>
              <a:spcBef>
                <a:spcPts val="1200"/>
              </a:spcBef>
              <a:spcAft>
                <a:spcPts val="0"/>
              </a:spcAft>
              <a:buNone/>
            </a:pPr>
            <a:r>
              <a:rPr lang="en"/>
              <a:t>“Gradient Boosting matched Random Forest’s accuracy with an R² of about 0.91. It’s particularly good at capturing the short-term peaks in NO₂, showing responsiveness to rapid changes. The residuals are tightly centered, confirming balanced predictions. This model refines the performance but is computationally more intensive.”</a:t>
            </a:r>
            <a:endParaRPr/>
          </a:p>
          <a:p>
            <a:pPr marL="0" lvl="0" indent="0" algn="l" rtl="0">
              <a:spcBef>
                <a:spcPts val="120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 name="Google Shape;11;p2"/>
          <p:cNvCxnSpPr/>
          <p:nvPr/>
        </p:nvCxnSpPr>
        <p:spPr>
          <a:xfrm>
            <a:off x="641934" y="3597500"/>
            <a:ext cx="390300" cy="0"/>
          </a:xfrm>
          <a:prstGeom prst="straightConnector1">
            <a:avLst/>
          </a:prstGeom>
          <a:noFill/>
          <a:ln w="28575" cap="flat" cmpd="sng">
            <a:solidFill>
              <a:schemeClr val="accent1"/>
            </a:solidFill>
            <a:prstDash val="solid"/>
            <a:round/>
            <a:headEnd type="none" w="sm" len="sm"/>
            <a:tailEnd type="none" w="sm" len="sm"/>
          </a:ln>
        </p:spPr>
      </p:cxnSp>
      <p:sp>
        <p:nvSpPr>
          <p:cNvPr id="12" name="Google Shape;12;p2"/>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a:endParaRPr/>
          </a:p>
        </p:txBody>
      </p:sp>
      <p:sp>
        <p:nvSpPr>
          <p:cNvPr id="13" name="Google Shape;13;p2"/>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w="28575" cap="flat" cmpd="sng">
            <a:solidFill>
              <a:schemeClr val="lt2"/>
            </a:solidFill>
            <a:prstDash val="solid"/>
            <a:round/>
            <a:headEnd type="none" w="sm" len="sm"/>
            <a:tailEnd type="none" w="sm" len="sm"/>
          </a:ln>
        </p:spPr>
      </p:cxnSp>
      <p:sp>
        <p:nvSpPr>
          <p:cNvPr id="17" name="Google Shape;17;p3"/>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7" name="Google Shape;27;p5"/>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5" name="Google Shape;3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a:endParaRPr/>
          </a:p>
        </p:txBody>
      </p:sp>
      <p:sp>
        <p:nvSpPr>
          <p:cNvPr id="38" name="Google Shape;38;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686400" cy="0"/>
          </a:xfrm>
          <a:prstGeom prst="straightConnector1">
            <a:avLst/>
          </a:prstGeom>
          <a:noFill/>
          <a:ln w="19050" cap="flat" cmpd="sng">
            <a:solidFill>
              <a:schemeClr val="lt2"/>
            </a:solidFill>
            <a:prstDash val="solid"/>
            <a:round/>
            <a:headEnd type="none" w="sm" len="sm"/>
            <a:tailEnd type="none" w="sm" len="sm"/>
          </a:ln>
        </p:spPr>
      </p:cxnSp>
      <p:sp>
        <p:nvSpPr>
          <p:cNvPr id="42" name="Google Shape;42;p9"/>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a:endParaRPr/>
          </a:p>
        </p:txBody>
      </p:sp>
      <p:sp>
        <p:nvSpPr>
          <p:cNvPr id="43" name="Google Shape;43;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accent1"/>
              </a:buClr>
              <a:buSzPts val="1800"/>
              <a:buChar char="●"/>
              <a:defRPr>
                <a:solidFill>
                  <a:schemeClr val="accent1"/>
                </a:solidFill>
              </a:defRPr>
            </a:lvl1pPr>
            <a:lvl2pPr marL="914400" lvl="1" indent="-317500">
              <a:spcBef>
                <a:spcPts val="1600"/>
              </a:spcBef>
              <a:spcAft>
                <a:spcPts val="0"/>
              </a:spcAft>
              <a:buClr>
                <a:schemeClr val="accent1"/>
              </a:buClr>
              <a:buSzPts val="1400"/>
              <a:buChar char="○"/>
              <a:defRPr>
                <a:solidFill>
                  <a:schemeClr val="accent1"/>
                </a:solidFill>
              </a:defRPr>
            </a:lvl2pPr>
            <a:lvl3pPr marL="1371600" lvl="2" indent="-317500">
              <a:spcBef>
                <a:spcPts val="1600"/>
              </a:spcBef>
              <a:spcAft>
                <a:spcPts val="0"/>
              </a:spcAft>
              <a:buClr>
                <a:schemeClr val="accent1"/>
              </a:buClr>
              <a:buSzPts val="1400"/>
              <a:buChar char="■"/>
              <a:defRPr>
                <a:solidFill>
                  <a:schemeClr val="accent1"/>
                </a:solidFill>
              </a:defRPr>
            </a:lvl3pPr>
            <a:lvl4pPr marL="1828800" lvl="3" indent="-317500">
              <a:spcBef>
                <a:spcPts val="1600"/>
              </a:spcBef>
              <a:spcAft>
                <a:spcPts val="0"/>
              </a:spcAft>
              <a:buClr>
                <a:schemeClr val="accent1"/>
              </a:buClr>
              <a:buSzPts val="1400"/>
              <a:buChar char="●"/>
              <a:defRPr>
                <a:solidFill>
                  <a:schemeClr val="accent1"/>
                </a:solidFill>
              </a:defRPr>
            </a:lvl4pPr>
            <a:lvl5pPr marL="2286000" lvl="4" indent="-317500">
              <a:spcBef>
                <a:spcPts val="1600"/>
              </a:spcBef>
              <a:spcAft>
                <a:spcPts val="0"/>
              </a:spcAft>
              <a:buClr>
                <a:schemeClr val="accent1"/>
              </a:buClr>
              <a:buSzPts val="1400"/>
              <a:buChar char="○"/>
              <a:defRPr>
                <a:solidFill>
                  <a:schemeClr val="accent1"/>
                </a:solidFill>
              </a:defRPr>
            </a:lvl5pPr>
            <a:lvl6pPr marL="2743200" lvl="5" indent="-317500">
              <a:spcBef>
                <a:spcPts val="1600"/>
              </a:spcBef>
              <a:spcAft>
                <a:spcPts val="0"/>
              </a:spcAft>
              <a:buClr>
                <a:schemeClr val="accent1"/>
              </a:buClr>
              <a:buSzPts val="1400"/>
              <a:buChar char="■"/>
              <a:defRPr>
                <a:solidFill>
                  <a:schemeClr val="accent1"/>
                </a:solidFill>
              </a:defRPr>
            </a:lvl6pPr>
            <a:lvl7pPr marL="3200400" lvl="6" indent="-317500">
              <a:spcBef>
                <a:spcPts val="1600"/>
              </a:spcBef>
              <a:spcAft>
                <a:spcPts val="0"/>
              </a:spcAft>
              <a:buClr>
                <a:schemeClr val="accent1"/>
              </a:buClr>
              <a:buSzPts val="1400"/>
              <a:buChar char="●"/>
              <a:defRPr>
                <a:solidFill>
                  <a:schemeClr val="accent1"/>
                </a:solidFill>
              </a:defRPr>
            </a:lvl7pPr>
            <a:lvl8pPr marL="3657600" lvl="7" indent="-317500">
              <a:spcBef>
                <a:spcPts val="1600"/>
              </a:spcBef>
              <a:spcAft>
                <a:spcPts val="0"/>
              </a:spcAft>
              <a:buClr>
                <a:schemeClr val="accent1"/>
              </a:buClr>
              <a:buSzPts val="1400"/>
              <a:buChar char="○"/>
              <a:defRPr>
                <a:solidFill>
                  <a:schemeClr val="accent1"/>
                </a:solidFill>
              </a:defRPr>
            </a:lvl8pPr>
            <a:lvl9pPr marL="4114800" lvl="8" indent="-317500">
              <a:spcBef>
                <a:spcPts val="1600"/>
              </a:spcBef>
              <a:spcAft>
                <a:spcPts val="1600"/>
              </a:spcAft>
              <a:buClr>
                <a:schemeClr val="accent1"/>
              </a:buClr>
              <a:buSzPts val="1400"/>
              <a:buChar char="■"/>
              <a:defRPr>
                <a:solidFill>
                  <a:schemeClr val="accent1"/>
                </a:solidFill>
              </a:defRPr>
            </a:lvl9pPr>
          </a:lstStyle>
          <a:p>
            <a:endParaRPr/>
          </a:p>
        </p:txBody>
      </p:sp>
      <p:sp>
        <p:nvSpPr>
          <p:cNvPr id="45" name="Google Shape;4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8" name="Google Shape;48;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039650"/>
            <a:ext cx="8520600" cy="2106300"/>
          </a:xfrm>
          <a:prstGeom prst="rect">
            <a:avLst/>
          </a:prstGeom>
        </p:spPr>
        <p:txBody>
          <a:bodyPr spcFirstLastPara="1" wrap="square" lIns="91425" tIns="91425" rIns="91425" bIns="91425" anchor="b" anchorCtr="0">
            <a:no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perback">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13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7" name="Google Shape;7;p1"/>
          <p:cNvSpPr txBox="1">
            <a:spLocks noGrp="1"/>
          </p:cNvSpPr>
          <p:nvPr>
            <p:ph type="body" idx="1"/>
          </p:nvPr>
        </p:nvSpPr>
        <p:spPr>
          <a:xfrm>
            <a:off x="311700" y="1171600"/>
            <a:ext cx="8520600" cy="3397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Predicting Short-Term AQI with Weather and Pollutant Data</a:t>
            </a:r>
            <a:endParaRPr/>
          </a:p>
        </p:txBody>
      </p:sp>
      <p:sp>
        <p:nvSpPr>
          <p:cNvPr id="60" name="Google Shape;60;p13"/>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dirty="0">
                <a:solidFill>
                  <a:schemeClr val="lt1"/>
                </a:solidFill>
                <a:latin typeface="Arial"/>
                <a:ea typeface="Arial"/>
                <a:cs typeface="Arial"/>
                <a:sym typeface="Arial"/>
              </a:rPr>
              <a:t>Aaryaveer Somani, Jeenay Dedhia, Ian Schmitz, Luke Nobrega</a:t>
            </a:r>
            <a:endParaRPr sz="3500" dirty="0">
              <a:solidFill>
                <a:schemeClr val="lt1"/>
              </a:solidFill>
            </a:endParaRPr>
          </a:p>
        </p:txBody>
      </p:sp>
      <p:sp>
        <p:nvSpPr>
          <p:cNvPr id="61" name="Google Shape;61;p13"/>
          <p:cNvSpPr txBox="1"/>
          <p:nvPr/>
        </p:nvSpPr>
        <p:spPr>
          <a:xfrm>
            <a:off x="0" y="4818125"/>
            <a:ext cx="1369200" cy="28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lt1"/>
                </a:solidFill>
                <a:latin typeface="Old Standard TT"/>
                <a:ea typeface="Old Standard TT"/>
                <a:cs typeface="Old Standard TT"/>
                <a:sym typeface="Old Standard TT"/>
              </a:rPr>
              <a:t>11/23/25</a:t>
            </a:r>
            <a:endParaRPr sz="1100">
              <a:solidFill>
                <a:schemeClr val="lt1"/>
              </a:solidFill>
              <a:latin typeface="Old Standard TT"/>
              <a:ea typeface="Old Standard TT"/>
              <a:cs typeface="Old Standard TT"/>
              <a:sym typeface="Old Standard T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Project Goal</a:t>
            </a:r>
            <a:endParaRPr/>
          </a:p>
        </p:txBody>
      </p:sp>
      <p:sp>
        <p:nvSpPr>
          <p:cNvPr id="67" name="Google Shape;67;p14"/>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Found around the house!</a:t>
            </a:r>
            <a:endParaRPr/>
          </a:p>
        </p:txBody>
      </p:sp>
      <p:sp>
        <p:nvSpPr>
          <p:cNvPr id="68" name="Google Shape;68;p14"/>
          <p:cNvSpPr txBox="1">
            <a:spLocks noGrp="1"/>
          </p:cNvSpPr>
          <p:nvPr>
            <p:ph type="body" idx="2"/>
          </p:nvPr>
        </p:nvSpPr>
        <p:spPr>
          <a:xfrm>
            <a:off x="4939500" y="70350"/>
            <a:ext cx="3837000" cy="5073000"/>
          </a:xfrm>
          <a:prstGeom prst="rect">
            <a:avLst/>
          </a:prstGeom>
        </p:spPr>
        <p:txBody>
          <a:bodyPr spcFirstLastPara="1" wrap="square" lIns="91425" tIns="91425" rIns="91425" bIns="91425" anchor="ctr" anchorCtr="0">
            <a:noAutofit/>
          </a:bodyPr>
          <a:lstStyle/>
          <a:p>
            <a:pPr marL="457200" lvl="0" indent="-361950" algn="l" rtl="0">
              <a:spcBef>
                <a:spcPts val="0"/>
              </a:spcBef>
              <a:spcAft>
                <a:spcPts val="0"/>
              </a:spcAft>
              <a:buClr>
                <a:schemeClr val="lt1"/>
              </a:buClr>
              <a:buSzPts val="2100"/>
              <a:buChar char="●"/>
            </a:pPr>
            <a:r>
              <a:rPr lang="en" sz="1400" b="1">
                <a:solidFill>
                  <a:schemeClr val="lt1"/>
                </a:solidFill>
                <a:latin typeface="Arial"/>
                <a:ea typeface="Arial"/>
                <a:cs typeface="Arial"/>
                <a:sym typeface="Arial"/>
              </a:rPr>
              <a:t>Objective:</a:t>
            </a:r>
            <a:r>
              <a:rPr lang="en" sz="1400">
                <a:solidFill>
                  <a:schemeClr val="lt1"/>
                </a:solidFill>
                <a:latin typeface="Arial"/>
                <a:ea typeface="Arial"/>
                <a:cs typeface="Arial"/>
                <a:sym typeface="Arial"/>
              </a:rPr>
              <a:t> Predict next-hour NO₂ based on recent pollutants and meteorological features.</a:t>
            </a:r>
            <a:endParaRPr sz="1400">
              <a:solidFill>
                <a:schemeClr val="lt1"/>
              </a:solidFill>
              <a:latin typeface="Arial"/>
              <a:ea typeface="Arial"/>
              <a:cs typeface="Arial"/>
              <a:sym typeface="Arial"/>
            </a:endParaRPr>
          </a:p>
          <a:p>
            <a:pPr marL="457200" lvl="0" indent="-361950" algn="l" rtl="0">
              <a:spcBef>
                <a:spcPts val="0"/>
              </a:spcBef>
              <a:spcAft>
                <a:spcPts val="0"/>
              </a:spcAft>
              <a:buClr>
                <a:schemeClr val="lt1"/>
              </a:buClr>
              <a:buSzPts val="2100"/>
              <a:buChar char="●"/>
            </a:pPr>
            <a:r>
              <a:rPr lang="en" sz="1400" b="1">
                <a:solidFill>
                  <a:schemeClr val="lt1"/>
                </a:solidFill>
                <a:latin typeface="Arial"/>
                <a:ea typeface="Arial"/>
                <a:cs typeface="Arial"/>
                <a:sym typeface="Arial"/>
              </a:rPr>
              <a:t>Why this matters:</a:t>
            </a:r>
            <a:r>
              <a:rPr lang="en" sz="1400">
                <a:solidFill>
                  <a:schemeClr val="lt1"/>
                </a:solidFill>
                <a:latin typeface="Arial"/>
                <a:ea typeface="Arial"/>
                <a:cs typeface="Arial"/>
                <a:sym typeface="Arial"/>
              </a:rPr>
              <a:t> Enables earlier public warnings and smarter city planning.</a:t>
            </a:r>
            <a:endParaRPr sz="1400">
              <a:solidFill>
                <a:schemeClr val="lt1"/>
              </a:solidFill>
              <a:latin typeface="Arial"/>
              <a:ea typeface="Arial"/>
              <a:cs typeface="Arial"/>
              <a:sym typeface="Arial"/>
            </a:endParaRPr>
          </a:p>
          <a:p>
            <a:pPr marL="457200" lvl="0" indent="-361950" algn="l" rtl="0">
              <a:spcBef>
                <a:spcPts val="0"/>
              </a:spcBef>
              <a:spcAft>
                <a:spcPts val="0"/>
              </a:spcAft>
              <a:buClr>
                <a:schemeClr val="lt1"/>
              </a:buClr>
              <a:buSzPts val="2100"/>
              <a:buChar char="●"/>
            </a:pPr>
            <a:r>
              <a:rPr lang="en" sz="1400" b="1">
                <a:solidFill>
                  <a:schemeClr val="lt1"/>
                </a:solidFill>
                <a:latin typeface="Arial"/>
                <a:ea typeface="Arial"/>
                <a:cs typeface="Arial"/>
                <a:sym typeface="Arial"/>
              </a:rPr>
              <a:t>Models Used:</a:t>
            </a:r>
            <a:r>
              <a:rPr lang="en" sz="1400">
                <a:solidFill>
                  <a:schemeClr val="lt1"/>
                </a:solidFill>
                <a:latin typeface="Arial"/>
                <a:ea typeface="Arial"/>
                <a:cs typeface="Arial"/>
                <a:sym typeface="Arial"/>
              </a:rPr>
              <a:t> Linear Regression (baseline), Random Forest, Gradient Boosting.</a:t>
            </a:r>
            <a:endParaRPr sz="1400">
              <a:solidFill>
                <a:schemeClr val="lt1"/>
              </a:solidFill>
              <a:latin typeface="Arial"/>
              <a:ea typeface="Arial"/>
              <a:cs typeface="Arial"/>
              <a:sym typeface="Arial"/>
            </a:endParaRPr>
          </a:p>
          <a:p>
            <a:pPr marL="457200" lvl="0" indent="-361950" algn="l" rtl="0">
              <a:spcBef>
                <a:spcPts val="0"/>
              </a:spcBef>
              <a:spcAft>
                <a:spcPts val="0"/>
              </a:spcAft>
              <a:buClr>
                <a:schemeClr val="lt1"/>
              </a:buClr>
              <a:buSzPts val="2100"/>
              <a:buChar char="●"/>
            </a:pPr>
            <a:r>
              <a:rPr lang="en" sz="1400" b="1">
                <a:solidFill>
                  <a:schemeClr val="lt1"/>
                </a:solidFill>
                <a:latin typeface="Arial"/>
                <a:ea typeface="Arial"/>
                <a:cs typeface="Arial"/>
                <a:sym typeface="Arial"/>
              </a:rPr>
              <a:t>Evaluation Metrics:</a:t>
            </a:r>
            <a:r>
              <a:rPr lang="en" sz="1400">
                <a:solidFill>
                  <a:schemeClr val="lt1"/>
                </a:solidFill>
                <a:latin typeface="Arial"/>
                <a:ea typeface="Arial"/>
                <a:cs typeface="Arial"/>
                <a:sym typeface="Arial"/>
              </a:rPr>
              <a:t> RMSE, MAE, R² on chronological 80/20 train-test split.</a:t>
            </a:r>
            <a:endParaRPr sz="1400">
              <a:solidFill>
                <a:schemeClr val="lt1"/>
              </a:solidFill>
              <a:latin typeface="Arial"/>
              <a:ea typeface="Arial"/>
              <a:cs typeface="Arial"/>
              <a:sym typeface="Arial"/>
            </a:endParaRPr>
          </a:p>
          <a:p>
            <a:pPr marL="457200" lvl="0" indent="-361950" algn="l" rtl="0">
              <a:spcBef>
                <a:spcPts val="0"/>
              </a:spcBef>
              <a:spcAft>
                <a:spcPts val="0"/>
              </a:spcAft>
              <a:buClr>
                <a:schemeClr val="lt1"/>
              </a:buClr>
              <a:buSzPts val="2100"/>
              <a:buChar char="●"/>
            </a:pPr>
            <a:r>
              <a:rPr lang="en" sz="1400" b="1">
                <a:solidFill>
                  <a:schemeClr val="lt1"/>
                </a:solidFill>
                <a:latin typeface="Arial"/>
                <a:ea typeface="Arial"/>
                <a:cs typeface="Arial"/>
                <a:sym typeface="Arial"/>
              </a:rPr>
              <a:t>Data Cleaning Steps:</a:t>
            </a:r>
            <a:r>
              <a:rPr lang="en" sz="1400">
                <a:solidFill>
                  <a:schemeClr val="lt1"/>
                </a:solidFill>
                <a:latin typeface="Arial"/>
                <a:ea typeface="Arial"/>
                <a:cs typeface="Arial"/>
                <a:sym typeface="Arial"/>
              </a:rPr>
              <a:t> Handled missing values (–200), converted commas to dots, merged Date + Time, interpolated gaps.</a:t>
            </a:r>
            <a:endParaRPr sz="2100" b="1">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5"/>
          <p:cNvSpPr txBox="1">
            <a:spLocks noGrp="1"/>
          </p:cNvSpPr>
          <p:nvPr>
            <p:ph type="title"/>
          </p:nvPr>
        </p:nvSpPr>
        <p:spPr>
          <a:xfrm>
            <a:off x="128375" y="85600"/>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 Summarization &amp; Visualization</a:t>
            </a:r>
            <a:endParaRPr/>
          </a:p>
        </p:txBody>
      </p:sp>
      <p:sp>
        <p:nvSpPr>
          <p:cNvPr id="74" name="Google Shape;74;p15"/>
          <p:cNvSpPr txBox="1">
            <a:spLocks noGrp="1"/>
          </p:cNvSpPr>
          <p:nvPr>
            <p:ph type="body" idx="1"/>
          </p:nvPr>
        </p:nvSpPr>
        <p:spPr>
          <a:xfrm>
            <a:off x="294600" y="955525"/>
            <a:ext cx="3933300" cy="443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b="1"/>
              <a:t>Data Preparation and Steps:                                           </a:t>
            </a:r>
            <a:endParaRPr sz="1300" b="1"/>
          </a:p>
          <a:p>
            <a:pPr marL="457200" lvl="0" indent="-298450" algn="l" rtl="0">
              <a:spcBef>
                <a:spcPts val="1600"/>
              </a:spcBef>
              <a:spcAft>
                <a:spcPts val="0"/>
              </a:spcAft>
              <a:buSzPts val="1100"/>
              <a:buChar char="●"/>
            </a:pPr>
            <a:r>
              <a:rPr lang="en" sz="1100" b="1"/>
              <a:t> </a:t>
            </a:r>
            <a:r>
              <a:rPr lang="en" sz="1200"/>
              <a:t>Removed invalid readings (-200)</a:t>
            </a:r>
            <a:endParaRPr sz="1200"/>
          </a:p>
          <a:p>
            <a:pPr marL="457200" lvl="0" indent="-304800" algn="l" rtl="0">
              <a:spcBef>
                <a:spcPts val="0"/>
              </a:spcBef>
              <a:spcAft>
                <a:spcPts val="0"/>
              </a:spcAft>
              <a:buSzPts val="1200"/>
              <a:buChar char="●"/>
            </a:pPr>
            <a:r>
              <a:rPr lang="en" sz="1200"/>
              <a:t>Converted commas to decimal points</a:t>
            </a:r>
            <a:endParaRPr sz="1200"/>
          </a:p>
          <a:p>
            <a:pPr marL="457200" lvl="0" indent="-304800" algn="l" rtl="0">
              <a:spcBef>
                <a:spcPts val="0"/>
              </a:spcBef>
              <a:spcAft>
                <a:spcPts val="0"/>
              </a:spcAft>
              <a:buSzPts val="1200"/>
              <a:buChar char="●"/>
            </a:pPr>
            <a:r>
              <a:rPr lang="en" sz="1200"/>
              <a:t>Merged date + time field into single timestamps</a:t>
            </a:r>
            <a:endParaRPr sz="1200"/>
          </a:p>
          <a:p>
            <a:pPr marL="457200" lvl="0" indent="-304800" algn="l" rtl="0">
              <a:spcBef>
                <a:spcPts val="0"/>
              </a:spcBef>
              <a:spcAft>
                <a:spcPts val="0"/>
              </a:spcAft>
              <a:buSzPts val="1200"/>
              <a:buChar char="●"/>
            </a:pPr>
            <a:r>
              <a:rPr lang="en" sz="1200"/>
              <a:t>Interpolated small gaps in the Data</a:t>
            </a:r>
            <a:endParaRPr sz="1200"/>
          </a:p>
          <a:p>
            <a:pPr marL="0" lvl="0" indent="0" algn="l" rtl="0">
              <a:spcBef>
                <a:spcPts val="1600"/>
              </a:spcBef>
              <a:spcAft>
                <a:spcPts val="0"/>
              </a:spcAft>
              <a:buNone/>
            </a:pPr>
            <a:r>
              <a:rPr lang="en" sz="1300" b="1"/>
              <a:t>Key Insights From Data:</a:t>
            </a:r>
            <a:endParaRPr sz="1300" b="1"/>
          </a:p>
          <a:p>
            <a:pPr marL="457200" lvl="0" indent="-304800" algn="l" rtl="0">
              <a:spcBef>
                <a:spcPts val="1600"/>
              </a:spcBef>
              <a:spcAft>
                <a:spcPts val="0"/>
              </a:spcAft>
              <a:buSzPts val="1200"/>
              <a:buChar char="●"/>
            </a:pPr>
            <a:r>
              <a:rPr lang="en" sz="1200"/>
              <a:t>NOx(GT) and CO(GT) show the strongest relationship with </a:t>
            </a:r>
            <a:r>
              <a:rPr lang="en"/>
              <a:t>NO₂</a:t>
            </a:r>
            <a:endParaRPr/>
          </a:p>
          <a:p>
            <a:pPr marL="457200" lvl="0" indent="-304800" algn="l" rtl="0">
              <a:spcBef>
                <a:spcPts val="0"/>
              </a:spcBef>
              <a:spcAft>
                <a:spcPts val="0"/>
              </a:spcAft>
              <a:buSzPts val="1200"/>
              <a:buChar char="●"/>
            </a:pPr>
            <a:r>
              <a:rPr lang="en" sz="1200"/>
              <a:t>Temperature also coll with NO₂ levels</a:t>
            </a:r>
            <a:endParaRPr sz="1200"/>
          </a:p>
          <a:p>
            <a:pPr marL="457200" lvl="0" indent="-304800" algn="l" rtl="0">
              <a:spcBef>
                <a:spcPts val="0"/>
              </a:spcBef>
              <a:spcAft>
                <a:spcPts val="0"/>
              </a:spcAft>
              <a:buSzPts val="1200"/>
              <a:buChar char="●"/>
            </a:pPr>
            <a:r>
              <a:rPr lang="en" sz="1200"/>
              <a:t>Pollution shows spike patterns - indicates nonlinear behavior</a:t>
            </a:r>
            <a:endParaRPr sz="1200"/>
          </a:p>
          <a:p>
            <a:pPr marL="457200" lvl="0" indent="-304800" algn="l" rtl="0">
              <a:spcBef>
                <a:spcPts val="0"/>
              </a:spcBef>
              <a:spcAft>
                <a:spcPts val="0"/>
              </a:spcAft>
              <a:buSzPts val="1200"/>
              <a:buChar char="●"/>
            </a:pPr>
            <a:r>
              <a:rPr lang="en" sz="1200"/>
              <a:t>Helps explain why tree-based models perform better</a:t>
            </a:r>
            <a:endParaRPr sz="1200"/>
          </a:p>
          <a:p>
            <a:pPr marL="0" lvl="0" indent="0" algn="l" rtl="0">
              <a:spcBef>
                <a:spcPts val="1600"/>
              </a:spcBef>
              <a:spcAft>
                <a:spcPts val="1600"/>
              </a:spcAft>
              <a:buNone/>
            </a:pPr>
            <a:endParaRPr sz="1300"/>
          </a:p>
        </p:txBody>
      </p:sp>
      <p:pic>
        <p:nvPicPr>
          <p:cNvPr id="75" name="Google Shape;75;p15" title="Screenshot 2025-10-27 at 7.06.33 PM.png"/>
          <p:cNvPicPr preferRelativeResize="0"/>
          <p:nvPr/>
        </p:nvPicPr>
        <p:blipFill>
          <a:blip r:embed="rId3">
            <a:alphaModFix/>
          </a:blip>
          <a:stretch>
            <a:fillRect/>
          </a:stretch>
        </p:blipFill>
        <p:spPr>
          <a:xfrm>
            <a:off x="6447775" y="3184988"/>
            <a:ext cx="2644876" cy="1629026"/>
          </a:xfrm>
          <a:prstGeom prst="rect">
            <a:avLst/>
          </a:prstGeom>
          <a:noFill/>
          <a:ln>
            <a:noFill/>
          </a:ln>
        </p:spPr>
      </p:pic>
      <p:pic>
        <p:nvPicPr>
          <p:cNvPr id="76" name="Google Shape;76;p15" title="Screenshot 2025-10-27 at 7.04.18 PM.png"/>
          <p:cNvPicPr preferRelativeResize="0"/>
          <p:nvPr/>
        </p:nvPicPr>
        <p:blipFill>
          <a:blip r:embed="rId4">
            <a:alphaModFix/>
          </a:blip>
          <a:stretch>
            <a:fillRect/>
          </a:stretch>
        </p:blipFill>
        <p:spPr>
          <a:xfrm>
            <a:off x="4027725" y="3018100"/>
            <a:ext cx="2326299" cy="1962801"/>
          </a:xfrm>
          <a:prstGeom prst="rect">
            <a:avLst/>
          </a:prstGeom>
          <a:noFill/>
          <a:ln>
            <a:noFill/>
          </a:ln>
        </p:spPr>
      </p:pic>
      <p:pic>
        <p:nvPicPr>
          <p:cNvPr id="77" name="Google Shape;77;p15" title="Screenshot 2025-10-27 at 7.04.51 PM.png"/>
          <p:cNvPicPr preferRelativeResize="0"/>
          <p:nvPr/>
        </p:nvPicPr>
        <p:blipFill>
          <a:blip r:embed="rId5">
            <a:alphaModFix/>
          </a:blip>
          <a:stretch>
            <a:fillRect/>
          </a:stretch>
        </p:blipFill>
        <p:spPr>
          <a:xfrm>
            <a:off x="5075050" y="955525"/>
            <a:ext cx="3104274" cy="1694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233500" y="164913"/>
            <a:ext cx="3156600" cy="5143500"/>
          </a:xfrm>
          <a:prstGeom prst="rect">
            <a:avLst/>
          </a:prstGeom>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 sz="1100" b="1">
                <a:solidFill>
                  <a:schemeClr val="dk1"/>
                </a:solidFill>
                <a:latin typeface="Arial"/>
                <a:ea typeface="Arial"/>
                <a:cs typeface="Arial"/>
                <a:sym typeface="Arial"/>
              </a:rPr>
              <a:t>Performance Trend (Bar Chart Insight):</a:t>
            </a:r>
            <a:endParaRPr sz="1100" b="1">
              <a:solidFill>
                <a:schemeClr val="dk1"/>
              </a:solidFill>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Font typeface="Arial"/>
              <a:buChar char="●"/>
            </a:pPr>
            <a:r>
              <a:rPr lang="en" sz="1100">
                <a:solidFill>
                  <a:schemeClr val="dk1"/>
                </a:solidFill>
                <a:latin typeface="Arial"/>
                <a:ea typeface="Arial"/>
                <a:cs typeface="Arial"/>
                <a:sym typeface="Arial"/>
              </a:rPr>
              <a:t>Linear Regression: R² = 0.876</a:t>
            </a:r>
            <a:endParaRPr sz="110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Font typeface="Arial"/>
              <a:buChar char="●"/>
            </a:pPr>
            <a:r>
              <a:rPr lang="en" sz="1100">
                <a:solidFill>
                  <a:schemeClr val="dk1"/>
                </a:solidFill>
                <a:latin typeface="Arial"/>
                <a:ea typeface="Arial"/>
                <a:cs typeface="Arial"/>
                <a:sym typeface="Arial"/>
              </a:rPr>
              <a:t>Random Forest: R² = 0.907</a:t>
            </a:r>
            <a:endParaRPr sz="110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Font typeface="Arial"/>
              <a:buChar char="●"/>
            </a:pPr>
            <a:r>
              <a:rPr lang="en" sz="1100">
                <a:solidFill>
                  <a:schemeClr val="dk1"/>
                </a:solidFill>
                <a:latin typeface="Arial"/>
                <a:ea typeface="Arial"/>
                <a:cs typeface="Arial"/>
                <a:sym typeface="Arial"/>
              </a:rPr>
              <a:t>Gradient Boosting: R² = 0.906</a:t>
            </a:r>
            <a:endParaRPr sz="1100">
              <a:solidFill>
                <a:schemeClr val="dk1"/>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 sz="1100" b="1">
                <a:solidFill>
                  <a:schemeClr val="dk1"/>
                </a:solidFill>
                <a:latin typeface="Arial"/>
                <a:ea typeface="Arial"/>
                <a:cs typeface="Arial"/>
                <a:sym typeface="Arial"/>
              </a:rPr>
              <a:t>Key Takeaways:</a:t>
            </a:r>
            <a:endParaRPr sz="1100" b="1">
              <a:solidFill>
                <a:schemeClr val="dk1"/>
              </a:solidFill>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Font typeface="Arial"/>
              <a:buChar char="●"/>
            </a:pPr>
            <a:r>
              <a:rPr lang="en" sz="1100">
                <a:solidFill>
                  <a:schemeClr val="dk1"/>
                </a:solidFill>
                <a:latin typeface="Arial"/>
                <a:ea typeface="Arial"/>
                <a:cs typeface="Arial"/>
                <a:sym typeface="Arial"/>
              </a:rPr>
              <a:t>All three models performed </a:t>
            </a:r>
            <a:r>
              <a:rPr lang="en" sz="1100" b="1">
                <a:solidFill>
                  <a:schemeClr val="dk1"/>
                </a:solidFill>
                <a:latin typeface="Arial"/>
                <a:ea typeface="Arial"/>
                <a:cs typeface="Arial"/>
                <a:sym typeface="Arial"/>
              </a:rPr>
              <a:t>exceptionally well</a:t>
            </a:r>
            <a:r>
              <a:rPr lang="en" sz="1100">
                <a:solidFill>
                  <a:schemeClr val="dk1"/>
                </a:solidFill>
                <a:latin typeface="Arial"/>
                <a:ea typeface="Arial"/>
                <a:cs typeface="Arial"/>
                <a:sym typeface="Arial"/>
              </a:rPr>
              <a:t>, suggesting your dataset is strong and well-structured.</a:t>
            </a:r>
            <a:endParaRPr sz="110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Font typeface="Arial"/>
              <a:buChar char="●"/>
            </a:pPr>
            <a:r>
              <a:rPr lang="en" sz="1100" b="1">
                <a:solidFill>
                  <a:schemeClr val="dk1"/>
                </a:solidFill>
                <a:latin typeface="Arial"/>
                <a:ea typeface="Arial"/>
                <a:cs typeface="Arial"/>
                <a:sym typeface="Arial"/>
              </a:rPr>
              <a:t>Random Forest</a:t>
            </a:r>
            <a:r>
              <a:rPr lang="en" sz="1100">
                <a:solidFill>
                  <a:schemeClr val="dk1"/>
                </a:solidFill>
                <a:latin typeface="Arial"/>
                <a:ea typeface="Arial"/>
                <a:cs typeface="Arial"/>
                <a:sym typeface="Arial"/>
              </a:rPr>
              <a:t> slightly outperformed others and is the </a:t>
            </a:r>
            <a:r>
              <a:rPr lang="en" sz="1100" b="1">
                <a:solidFill>
                  <a:schemeClr val="dk1"/>
                </a:solidFill>
                <a:latin typeface="Arial"/>
                <a:ea typeface="Arial"/>
                <a:cs typeface="Arial"/>
                <a:sym typeface="Arial"/>
              </a:rPr>
              <a:t>recommended final model</a:t>
            </a:r>
            <a:r>
              <a:rPr lang="en" sz="1100">
                <a:solidFill>
                  <a:schemeClr val="dk1"/>
                </a:solidFill>
                <a:latin typeface="Arial"/>
                <a:ea typeface="Arial"/>
                <a:cs typeface="Arial"/>
                <a:sym typeface="Arial"/>
              </a:rPr>
              <a:t> for stability and interpretability.</a:t>
            </a:r>
            <a:endParaRPr sz="110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Font typeface="Arial"/>
              <a:buChar char="●"/>
            </a:pPr>
            <a:r>
              <a:rPr lang="en" sz="1100" b="1">
                <a:solidFill>
                  <a:schemeClr val="dk1"/>
                </a:solidFill>
                <a:latin typeface="Arial"/>
                <a:ea typeface="Arial"/>
                <a:cs typeface="Arial"/>
                <a:sym typeface="Arial"/>
              </a:rPr>
              <a:t>Gradient Boosting</a:t>
            </a:r>
            <a:r>
              <a:rPr lang="en" sz="1100">
                <a:solidFill>
                  <a:schemeClr val="dk1"/>
                </a:solidFill>
                <a:latin typeface="Arial"/>
                <a:ea typeface="Arial"/>
                <a:cs typeface="Arial"/>
                <a:sym typeface="Arial"/>
              </a:rPr>
              <a:t> provides nearly identical accuracy but with higher complexity.</a:t>
            </a:r>
            <a:endParaRPr sz="110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Font typeface="Arial"/>
              <a:buChar char="●"/>
            </a:pPr>
            <a:r>
              <a:rPr lang="en" sz="1100" b="1">
                <a:solidFill>
                  <a:schemeClr val="dk1"/>
                </a:solidFill>
                <a:latin typeface="Arial"/>
                <a:ea typeface="Arial"/>
                <a:cs typeface="Arial"/>
                <a:sym typeface="Arial"/>
              </a:rPr>
              <a:t>Linear Regression</a:t>
            </a:r>
            <a:r>
              <a:rPr lang="en" sz="1100">
                <a:solidFill>
                  <a:schemeClr val="dk1"/>
                </a:solidFill>
                <a:latin typeface="Arial"/>
                <a:ea typeface="Arial"/>
                <a:cs typeface="Arial"/>
                <a:sym typeface="Arial"/>
              </a:rPr>
              <a:t> remains useful as an interpretable benchmark.</a:t>
            </a:r>
            <a:endParaRPr sz="1100">
              <a:solidFill>
                <a:schemeClr val="dk1"/>
              </a:solidFill>
              <a:latin typeface="Arial"/>
              <a:ea typeface="Arial"/>
              <a:cs typeface="Arial"/>
              <a:sym typeface="Arial"/>
            </a:endParaRPr>
          </a:p>
          <a:p>
            <a:pPr marL="0" lvl="0" indent="0" algn="l" rtl="0">
              <a:spcBef>
                <a:spcPts val="1200"/>
              </a:spcBef>
              <a:spcAft>
                <a:spcPts val="0"/>
              </a:spcAft>
              <a:buNone/>
            </a:pPr>
            <a:endParaRPr sz="1100">
              <a:solidFill>
                <a:schemeClr val="dk1"/>
              </a:solidFill>
              <a:latin typeface="Arial"/>
              <a:ea typeface="Arial"/>
              <a:cs typeface="Arial"/>
              <a:sym typeface="Arial"/>
            </a:endParaRPr>
          </a:p>
        </p:txBody>
      </p:sp>
      <p:pic>
        <p:nvPicPr>
          <p:cNvPr id="83" name="Google Shape;83;p16" title="Screenshot 2025-10-27 at 7.07.26 PM.png"/>
          <p:cNvPicPr preferRelativeResize="0"/>
          <p:nvPr/>
        </p:nvPicPr>
        <p:blipFill>
          <a:blip r:embed="rId3">
            <a:alphaModFix/>
          </a:blip>
          <a:stretch>
            <a:fillRect/>
          </a:stretch>
        </p:blipFill>
        <p:spPr>
          <a:xfrm>
            <a:off x="3741675" y="0"/>
            <a:ext cx="5402325" cy="5216624"/>
          </a:xfrm>
          <a:prstGeom prst="rect">
            <a:avLst/>
          </a:prstGeom>
          <a:noFill/>
          <a:ln>
            <a:noFill/>
          </a:ln>
        </p:spPr>
      </p:pic>
      <p:sp>
        <p:nvSpPr>
          <p:cNvPr id="84" name="Google Shape;84;p16"/>
          <p:cNvSpPr txBox="1"/>
          <p:nvPr/>
        </p:nvSpPr>
        <p:spPr>
          <a:xfrm>
            <a:off x="128375" y="94125"/>
            <a:ext cx="3046800" cy="47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a:solidFill>
                  <a:schemeClr val="dk1"/>
                </a:solidFill>
                <a:latin typeface="Old Standard TT"/>
                <a:ea typeface="Old Standard TT"/>
                <a:cs typeface="Old Standard TT"/>
                <a:sym typeface="Old Standard TT"/>
              </a:rPr>
              <a:t>Data Mining Modeling</a:t>
            </a:r>
            <a:endParaRPr sz="2100">
              <a:solidFill>
                <a:schemeClr val="dk1"/>
              </a:solidFill>
              <a:latin typeface="Old Standard TT"/>
              <a:ea typeface="Old Standard TT"/>
              <a:cs typeface="Old Standard TT"/>
              <a:sym typeface="Old Standard T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a:off x="-104850" y="0"/>
            <a:ext cx="9353700" cy="59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a:t>
            </a:r>
            <a:endParaRPr/>
          </a:p>
        </p:txBody>
      </p:sp>
      <p:sp>
        <p:nvSpPr>
          <p:cNvPr id="90" name="Google Shape;90;p17"/>
          <p:cNvSpPr txBox="1">
            <a:spLocks noGrp="1"/>
          </p:cNvSpPr>
          <p:nvPr>
            <p:ph type="body" idx="1"/>
          </p:nvPr>
        </p:nvSpPr>
        <p:spPr>
          <a:xfrm>
            <a:off x="311700" y="1941650"/>
            <a:ext cx="8068800" cy="23055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Clr>
                <a:schemeClr val="dk1"/>
              </a:buClr>
              <a:buSzPts val="1100"/>
              <a:buFont typeface="Arial"/>
              <a:buNone/>
            </a:pPr>
            <a:r>
              <a:rPr lang="en" sz="1300" b="1">
                <a:latin typeface="Arial"/>
                <a:ea typeface="Arial"/>
                <a:cs typeface="Arial"/>
                <a:sym typeface="Arial"/>
              </a:rPr>
              <a:t>Key Insights</a:t>
            </a:r>
            <a:endParaRPr sz="1300" b="1">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b="1">
                <a:latin typeface="Arial"/>
                <a:ea typeface="Arial"/>
                <a:cs typeface="Arial"/>
                <a:sym typeface="Arial"/>
              </a:rPr>
              <a:t>NOx(GT)</a:t>
            </a:r>
            <a:r>
              <a:rPr lang="en" sz="1100">
                <a:latin typeface="Arial"/>
                <a:ea typeface="Arial"/>
                <a:cs typeface="Arial"/>
                <a:sym typeface="Arial"/>
              </a:rPr>
              <a:t> and </a:t>
            </a:r>
            <a:r>
              <a:rPr lang="en" sz="1100" b="1">
                <a:latin typeface="Arial"/>
                <a:ea typeface="Arial"/>
                <a:cs typeface="Arial"/>
                <a:sym typeface="Arial"/>
              </a:rPr>
              <a:t>CO(GT)</a:t>
            </a:r>
            <a:r>
              <a:rPr lang="en" sz="1100">
                <a:latin typeface="Arial"/>
                <a:ea typeface="Arial"/>
                <a:cs typeface="Arial"/>
                <a:sym typeface="Arial"/>
              </a:rPr>
              <a:t> are the main drivers of NO₂ levels.</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a:latin typeface="Arial"/>
                <a:ea typeface="Arial"/>
                <a:cs typeface="Arial"/>
                <a:sym typeface="Arial"/>
              </a:rPr>
              <a:t>Linear Regression (R² = 0.876)</a:t>
            </a:r>
            <a:r>
              <a:rPr lang="en" sz="1100">
                <a:latin typeface="Arial"/>
                <a:ea typeface="Arial"/>
                <a:cs typeface="Arial"/>
                <a:sym typeface="Arial"/>
              </a:rPr>
              <a:t> shows strong linear predictability.</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a:latin typeface="Arial"/>
                <a:ea typeface="Arial"/>
                <a:cs typeface="Arial"/>
                <a:sym typeface="Arial"/>
              </a:rPr>
              <a:t>Random Forest (R² = 0.907)</a:t>
            </a:r>
            <a:r>
              <a:rPr lang="en" sz="1100">
                <a:latin typeface="Arial"/>
                <a:ea typeface="Arial"/>
                <a:cs typeface="Arial"/>
                <a:sym typeface="Arial"/>
              </a:rPr>
              <a:t> captures nonlinear effects and yields the best balance of accuracy &amp; stability.</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a:latin typeface="Arial"/>
                <a:ea typeface="Arial"/>
                <a:cs typeface="Arial"/>
                <a:sym typeface="Arial"/>
              </a:rPr>
              <a:t>Gradient Boosting (R² = 0.906)</a:t>
            </a:r>
            <a:r>
              <a:rPr lang="en" sz="1100">
                <a:latin typeface="Arial"/>
                <a:ea typeface="Arial"/>
                <a:cs typeface="Arial"/>
                <a:sym typeface="Arial"/>
              </a:rPr>
              <a:t> matches RF accuracy and excels at short-term fluctuation tracking.</a:t>
            </a:r>
            <a:endParaRPr sz="1100">
              <a:latin typeface="Arial"/>
              <a:ea typeface="Arial"/>
              <a:cs typeface="Arial"/>
              <a:sym typeface="Arial"/>
            </a:endParaRPr>
          </a:p>
          <a:p>
            <a:pPr marL="0" lvl="0" indent="0" algn="l" rtl="0">
              <a:spcBef>
                <a:spcPts val="1200"/>
              </a:spcBef>
              <a:spcAft>
                <a:spcPts val="0"/>
              </a:spcAft>
              <a:buClr>
                <a:schemeClr val="dk1"/>
              </a:buClr>
              <a:buSzPts val="1100"/>
              <a:buFont typeface="Arial"/>
              <a:buNone/>
            </a:pPr>
            <a:endParaRPr sz="1100">
              <a:latin typeface="Arial"/>
              <a:ea typeface="Arial"/>
              <a:cs typeface="Arial"/>
              <a:sym typeface="Arial"/>
            </a:endParaRPr>
          </a:p>
          <a:p>
            <a:pPr marL="0" lvl="0" indent="0" algn="l" rtl="0">
              <a:spcBef>
                <a:spcPts val="1400"/>
              </a:spcBef>
              <a:spcAft>
                <a:spcPts val="0"/>
              </a:spcAft>
              <a:buClr>
                <a:schemeClr val="dk1"/>
              </a:buClr>
              <a:buSzPts val="1100"/>
              <a:buFont typeface="Arial"/>
              <a:buNone/>
            </a:pPr>
            <a:r>
              <a:rPr lang="en" sz="1300" b="1">
                <a:latin typeface="Arial"/>
                <a:ea typeface="Arial"/>
                <a:cs typeface="Arial"/>
                <a:sym typeface="Arial"/>
              </a:rPr>
              <a:t>Implications &amp; Recommendations</a:t>
            </a:r>
            <a:endParaRPr sz="1300" b="1">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a:latin typeface="Arial"/>
                <a:ea typeface="Arial"/>
                <a:cs typeface="Arial"/>
                <a:sym typeface="Arial"/>
              </a:rPr>
              <a:t>Predictive models can </a:t>
            </a:r>
            <a:r>
              <a:rPr lang="en" sz="1100" b="1">
                <a:latin typeface="Arial"/>
                <a:ea typeface="Arial"/>
                <a:cs typeface="Arial"/>
                <a:sym typeface="Arial"/>
              </a:rPr>
              <a:t>forecast pollution spikes</a:t>
            </a:r>
            <a:r>
              <a:rPr lang="en" sz="1100">
                <a:latin typeface="Arial"/>
                <a:ea typeface="Arial"/>
                <a:cs typeface="Arial"/>
                <a:sym typeface="Arial"/>
              </a:rPr>
              <a:t> and aid </a:t>
            </a:r>
            <a:r>
              <a:rPr lang="en" sz="1100" b="1">
                <a:latin typeface="Arial"/>
                <a:ea typeface="Arial"/>
                <a:cs typeface="Arial"/>
                <a:sym typeface="Arial"/>
              </a:rPr>
              <a:t>early-warning systems</a:t>
            </a:r>
            <a:r>
              <a:rPr lang="en" sz="1100">
                <a:latin typeface="Arial"/>
                <a:ea typeface="Arial"/>
                <a:cs typeface="Arial"/>
                <a:sym typeface="Arial"/>
              </a:rPr>
              <a:t>.</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a:latin typeface="Arial"/>
                <a:ea typeface="Arial"/>
                <a:cs typeface="Arial"/>
                <a:sym typeface="Arial"/>
              </a:rPr>
              <a:t>Use Random Forest</a:t>
            </a:r>
            <a:r>
              <a:rPr lang="en" sz="1100">
                <a:latin typeface="Arial"/>
                <a:ea typeface="Arial"/>
                <a:cs typeface="Arial"/>
                <a:sym typeface="Arial"/>
              </a:rPr>
              <a:t> for ongoing NO₂ monitoring and decision support.</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a:latin typeface="Arial"/>
                <a:ea typeface="Arial"/>
                <a:cs typeface="Arial"/>
                <a:sym typeface="Arial"/>
              </a:rPr>
              <a:t>Integrate live traffic + weather data</a:t>
            </a:r>
            <a:r>
              <a:rPr lang="en" sz="1100">
                <a:latin typeface="Arial"/>
                <a:ea typeface="Arial"/>
                <a:cs typeface="Arial"/>
                <a:sym typeface="Arial"/>
              </a:rPr>
              <a:t> to enhance real-time accuracy.</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a:latin typeface="Arial"/>
                <a:ea typeface="Arial"/>
                <a:cs typeface="Arial"/>
                <a:sym typeface="Arial"/>
              </a:rPr>
              <a:t>Retrain models seasonally</a:t>
            </a:r>
            <a:r>
              <a:rPr lang="en" sz="1100">
                <a:latin typeface="Arial"/>
                <a:ea typeface="Arial"/>
                <a:cs typeface="Arial"/>
                <a:sym typeface="Arial"/>
              </a:rPr>
              <a:t> to adapt to changing conditions.</a:t>
            </a:r>
            <a:endParaRPr sz="1100">
              <a:latin typeface="Arial"/>
              <a:ea typeface="Arial"/>
              <a:cs typeface="Arial"/>
              <a:sym typeface="Arial"/>
            </a:endParaRPr>
          </a:p>
          <a:p>
            <a:pPr marL="0" lvl="0" indent="0" algn="l" rtl="0">
              <a:spcBef>
                <a:spcPts val="1200"/>
              </a:spcBef>
              <a:spcAft>
                <a:spcPts val="1200"/>
              </a:spcAft>
              <a:buNone/>
            </a:pPr>
            <a:endParaRPr sz="1100" b="1">
              <a:latin typeface="Arial"/>
              <a:ea typeface="Arial"/>
              <a:cs typeface="Arial"/>
              <a:sym typeface="Arial"/>
            </a:endParaRPr>
          </a:p>
        </p:txBody>
      </p:sp>
      <p:sp>
        <p:nvSpPr>
          <p:cNvPr id="91" name="Google Shape;91;p17"/>
          <p:cNvSpPr txBox="1">
            <a:spLocks noGrp="1"/>
          </p:cNvSpPr>
          <p:nvPr>
            <p:ph type="title"/>
          </p:nvPr>
        </p:nvSpPr>
        <p:spPr>
          <a:xfrm>
            <a:off x="311700" y="538350"/>
            <a:ext cx="8307300" cy="406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50">
                <a:solidFill>
                  <a:srgbClr val="E3E3E3"/>
                </a:solidFill>
                <a:highlight>
                  <a:srgbClr val="383838"/>
                </a:highlight>
                <a:latin typeface="Courier New"/>
                <a:ea typeface="Courier New"/>
                <a:cs typeface="Courier New"/>
                <a:sym typeface="Courier New"/>
              </a:rPr>
              <a:t>Model Summary:</a:t>
            </a:r>
            <a:endParaRPr sz="2050">
              <a:solidFill>
                <a:srgbClr val="E3E3E3"/>
              </a:solidFill>
              <a:highlight>
                <a:srgbClr val="383838"/>
              </a:highlight>
              <a:latin typeface="Courier New"/>
              <a:ea typeface="Courier New"/>
              <a:cs typeface="Courier New"/>
              <a:sym typeface="Courier New"/>
            </a:endParaRPr>
          </a:p>
          <a:p>
            <a:pPr marL="0" lvl="0" indent="0" algn="l" rtl="0">
              <a:spcBef>
                <a:spcPts val="0"/>
              </a:spcBef>
              <a:spcAft>
                <a:spcPts val="0"/>
              </a:spcAft>
              <a:buNone/>
            </a:pPr>
            <a:r>
              <a:rPr lang="en" sz="2050">
                <a:solidFill>
                  <a:srgbClr val="E3E3E3"/>
                </a:solidFill>
                <a:highlight>
                  <a:srgbClr val="383838"/>
                </a:highlight>
                <a:latin typeface="Courier New"/>
                <a:ea typeface="Courier New"/>
                <a:cs typeface="Courier New"/>
                <a:sym typeface="Courier New"/>
              </a:rPr>
              <a:t>               Model        R2       RMSE       MAE</a:t>
            </a:r>
            <a:endParaRPr sz="2050">
              <a:solidFill>
                <a:srgbClr val="E3E3E3"/>
              </a:solidFill>
              <a:highlight>
                <a:srgbClr val="383838"/>
              </a:highlight>
              <a:latin typeface="Courier New"/>
              <a:ea typeface="Courier New"/>
              <a:cs typeface="Courier New"/>
              <a:sym typeface="Courier New"/>
            </a:endParaRPr>
          </a:p>
          <a:p>
            <a:pPr marL="0" lvl="0" indent="0" algn="l" rtl="0">
              <a:spcBef>
                <a:spcPts val="0"/>
              </a:spcBef>
              <a:spcAft>
                <a:spcPts val="0"/>
              </a:spcAft>
              <a:buNone/>
            </a:pPr>
            <a:r>
              <a:rPr lang="en" sz="2050">
                <a:solidFill>
                  <a:srgbClr val="E3E3E3"/>
                </a:solidFill>
                <a:highlight>
                  <a:srgbClr val="383838"/>
                </a:highlight>
                <a:latin typeface="Courier New"/>
                <a:ea typeface="Courier New"/>
                <a:cs typeface="Courier New"/>
                <a:sym typeface="Courier New"/>
              </a:rPr>
              <a:t>0  Linear Regression  0.876278  11.560298  8.946636</a:t>
            </a:r>
            <a:endParaRPr sz="2050">
              <a:solidFill>
                <a:srgbClr val="E3E3E3"/>
              </a:solidFill>
              <a:highlight>
                <a:srgbClr val="383838"/>
              </a:highlight>
              <a:latin typeface="Courier New"/>
              <a:ea typeface="Courier New"/>
              <a:cs typeface="Courier New"/>
              <a:sym typeface="Courier New"/>
            </a:endParaRPr>
          </a:p>
          <a:p>
            <a:pPr marL="0" lvl="0" indent="0" algn="l" rtl="0">
              <a:spcBef>
                <a:spcPts val="0"/>
              </a:spcBef>
              <a:spcAft>
                <a:spcPts val="0"/>
              </a:spcAft>
              <a:buNone/>
            </a:pPr>
            <a:r>
              <a:rPr lang="en" sz="2050">
                <a:solidFill>
                  <a:srgbClr val="E3E3E3"/>
                </a:solidFill>
                <a:highlight>
                  <a:srgbClr val="383838"/>
                </a:highlight>
                <a:latin typeface="Courier New"/>
                <a:ea typeface="Courier New"/>
                <a:cs typeface="Courier New"/>
                <a:sym typeface="Courier New"/>
              </a:rPr>
              <a:t>1      Random Forest  0.907493   9.996158  7.711486</a:t>
            </a:r>
            <a:endParaRPr sz="2050">
              <a:solidFill>
                <a:srgbClr val="E3E3E3"/>
              </a:solidFill>
              <a:highlight>
                <a:srgbClr val="383838"/>
              </a:highlight>
              <a:latin typeface="Courier New"/>
              <a:ea typeface="Courier New"/>
              <a:cs typeface="Courier New"/>
              <a:sym typeface="Courier New"/>
            </a:endParaRPr>
          </a:p>
          <a:p>
            <a:pPr marL="0" lvl="0" indent="0" algn="l" rtl="0">
              <a:spcBef>
                <a:spcPts val="0"/>
              </a:spcBef>
              <a:spcAft>
                <a:spcPts val="0"/>
              </a:spcAft>
              <a:buNone/>
            </a:pPr>
            <a:r>
              <a:rPr lang="en" sz="2050">
                <a:solidFill>
                  <a:srgbClr val="E3E3E3"/>
                </a:solidFill>
                <a:highlight>
                  <a:srgbClr val="383838"/>
                </a:highlight>
                <a:latin typeface="Courier New"/>
                <a:ea typeface="Courier New"/>
                <a:cs typeface="Courier New"/>
                <a:sym typeface="Courier New"/>
              </a:rPr>
              <a:t>2  Gradient Boosting  0.905679  10.093707  7.825863</a:t>
            </a:r>
            <a:endParaRPr sz="6400"/>
          </a:p>
        </p:txBody>
      </p:sp>
    </p:spTree>
  </p:cSld>
  <p:clrMapOvr>
    <a:masterClrMapping/>
  </p:clrMapOvr>
</p:sld>
</file>

<file path=ppt/theme/theme1.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659</Words>
  <Application>Microsoft Office PowerPoint</Application>
  <PresentationFormat>On-screen Show (16:9)</PresentationFormat>
  <Paragraphs>55</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Old Standard TT</vt:lpstr>
      <vt:lpstr>Arial</vt:lpstr>
      <vt:lpstr>Courier New</vt:lpstr>
      <vt:lpstr>Paperback</vt:lpstr>
      <vt:lpstr>Predicting Short-Term AQI with Weather and Pollutant Data</vt:lpstr>
      <vt:lpstr>Project Goal</vt:lpstr>
      <vt:lpstr>Data Summarization &amp; Visualization</vt:lpstr>
      <vt:lpstr>Performance Trend (Bar Chart Insight): Linear Regression: R² = 0.876 Random Forest: R² = 0.907 Gradient Boosting: R² = 0.906 Key Takeaways: All three models performed exceptionally well, suggesting your dataset is strong and well-structured. Random Forest slightly outperformed others and is the recommended final model for stability and interpretability. Gradient Boosting provides nearly identical accuracy but with higher complexity. Linear Regression remains useful as an interpretable benchmark.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Luke Nobrega</cp:lastModifiedBy>
  <cp:revision>1</cp:revision>
  <dcterms:modified xsi:type="dcterms:W3CDTF">2026-08-28T17:37:33Z</dcterms:modified>
</cp:coreProperties>
</file>